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8.jpg" ContentType="image/jpeg"/>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12.jpg" ContentType="image/jpeg"/>
  <Override PartName="/ppt/notesSlides/notesSlide1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317" r:id="rId5"/>
    <p:sldId id="307" r:id="rId6"/>
    <p:sldId id="308" r:id="rId7"/>
    <p:sldId id="278" r:id="rId8"/>
    <p:sldId id="309" r:id="rId9"/>
    <p:sldId id="263" r:id="rId10"/>
    <p:sldId id="310" r:id="rId11"/>
    <p:sldId id="311" r:id="rId12"/>
    <p:sldId id="312" r:id="rId13"/>
    <p:sldId id="316" r:id="rId14"/>
    <p:sldId id="314" r:id="rId15"/>
    <p:sldId id="30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ED"/>
    <a:srgbClr val="FF00FF"/>
    <a:srgbClr val="636A58"/>
    <a:srgbClr val="505A47"/>
    <a:srgbClr val="D1D8B7"/>
    <a:srgbClr val="A09D79"/>
    <a:srgbClr val="AD5C4D"/>
    <a:srgbClr val="543E35"/>
    <a:srgbClr val="637700"/>
    <a:srgbClr val="5E6A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405" autoAdjust="0"/>
  </p:normalViewPr>
  <p:slideViewPr>
    <p:cSldViewPr snapToGrid="0">
      <p:cViewPr varScale="1">
        <p:scale>
          <a:sx n="91" d="100"/>
          <a:sy n="91" d="100"/>
        </p:scale>
        <p:origin x="322" y="72"/>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3/20/2026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3/20/2026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6740918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23081334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8</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11</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3263317"/>
          </a:xfrm>
        </p:spPr>
        <p:txBody>
          <a:bodyPr anchor="ctr"/>
          <a:lstStyle/>
          <a:p>
            <a:r>
              <a:rPr lang="en-US" b="1" dirty="0"/>
              <a:t>MACHINE LEARNING BASED DIABETES CLASSIFICATION AND PREDICTION</a:t>
            </a:r>
            <a:endParaRPr lang="en-IN" b="1" dirty="0"/>
          </a:p>
        </p:txBody>
      </p:sp>
      <p:sp>
        <p:nvSpPr>
          <p:cNvPr id="4" name="TextBox 3">
            <a:extLst>
              <a:ext uri="{FF2B5EF4-FFF2-40B4-BE49-F238E27FC236}">
                <a16:creationId xmlns:a16="http://schemas.microsoft.com/office/drawing/2014/main" id="{80717666-5B1B-4C70-1FB5-9B8DB34BCE96}"/>
              </a:ext>
            </a:extLst>
          </p:cNvPr>
          <p:cNvSpPr txBox="1"/>
          <p:nvPr/>
        </p:nvSpPr>
        <p:spPr>
          <a:xfrm>
            <a:off x="696286" y="4429387"/>
            <a:ext cx="3380764" cy="1754326"/>
          </a:xfrm>
          <a:prstGeom prst="rect">
            <a:avLst/>
          </a:prstGeom>
          <a:noFill/>
        </p:spPr>
        <p:txBody>
          <a:bodyPr wrap="square" rtlCol="0">
            <a:spAutoFit/>
          </a:bodyPr>
          <a:lstStyle/>
          <a:p>
            <a:r>
              <a:rPr lang="en-US" b="1" dirty="0"/>
              <a:t>Team Members:</a:t>
            </a:r>
          </a:p>
          <a:p>
            <a:r>
              <a:rPr lang="en-US" dirty="0"/>
              <a:t>Mittapelly Akhila(2203A51119)</a:t>
            </a:r>
          </a:p>
          <a:p>
            <a:r>
              <a:rPr lang="en-IN" dirty="0"/>
              <a:t>Bongu Preethika(2203A51106)</a:t>
            </a:r>
          </a:p>
          <a:p>
            <a:endParaRPr lang="en-IN" dirty="0"/>
          </a:p>
          <a:p>
            <a:r>
              <a:rPr lang="en-IN" b="1" dirty="0"/>
              <a:t>Guide:</a:t>
            </a:r>
          </a:p>
          <a:p>
            <a:r>
              <a:rPr lang="en-IN" dirty="0"/>
              <a:t>Mr. L. Gunakar Rao</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884021" y="1333849"/>
            <a:ext cx="3008471" cy="3120705"/>
          </a:xfrm>
        </p:spPr>
        <p:txBody>
          <a:bodyPr/>
          <a:lstStyle/>
          <a:p>
            <a:r>
              <a:rPr lang="en-US" sz="4000" b="1" dirty="0">
                <a:solidFill>
                  <a:schemeClr val="bg2">
                    <a:lumMod val="10000"/>
                  </a:schemeClr>
                </a:solidFill>
              </a:rPr>
              <a:t>Agenda</a:t>
            </a:r>
          </a:p>
        </p:txBody>
      </p:sp>
      <p:sp>
        <p:nvSpPr>
          <p:cNvPr id="4" name="Content Placeholder 3">
            <a:extLst>
              <a:ext uri="{FF2B5EF4-FFF2-40B4-BE49-F238E27FC236}">
                <a16:creationId xmlns:a16="http://schemas.microsoft.com/office/drawing/2014/main" id="{32B2880B-67B1-C7AB-93E3-26B63AC27F19}"/>
              </a:ext>
            </a:extLst>
          </p:cNvPr>
          <p:cNvSpPr>
            <a:spLocks noGrp="1"/>
          </p:cNvSpPr>
          <p:nvPr>
            <p:ph idx="1"/>
          </p:nvPr>
        </p:nvSpPr>
        <p:spPr/>
        <p:txBody>
          <a:bodyPr>
            <a:normAutofit/>
          </a:bodyPr>
          <a:lstStyle/>
          <a:p>
            <a:pPr algn="l">
              <a:buFont typeface="Wingdings" panose="05000000000000000000" pitchFamily="2" charset="2"/>
              <a:buChar char="Ø"/>
            </a:pPr>
            <a:r>
              <a:rPr lang="en-IN" sz="1800" dirty="0"/>
              <a:t>Project Definition &amp; Objectives</a:t>
            </a:r>
          </a:p>
          <a:p>
            <a:pPr algn="l">
              <a:buFont typeface="Wingdings" panose="05000000000000000000" pitchFamily="2" charset="2"/>
              <a:buChar char="Ø"/>
            </a:pPr>
            <a:r>
              <a:rPr lang="en-IN" sz="1800" dirty="0"/>
              <a:t>Introduction</a:t>
            </a:r>
          </a:p>
          <a:p>
            <a:pPr algn="l">
              <a:buFont typeface="Wingdings" panose="05000000000000000000" pitchFamily="2" charset="2"/>
              <a:buChar char="Ø"/>
            </a:pPr>
            <a:r>
              <a:rPr lang="en-IN" sz="1800" dirty="0"/>
              <a:t>Literature Review</a:t>
            </a:r>
          </a:p>
          <a:p>
            <a:pPr algn="l">
              <a:buFont typeface="Wingdings" panose="05000000000000000000" pitchFamily="2" charset="2"/>
              <a:buChar char="Ø"/>
            </a:pPr>
            <a:r>
              <a:rPr lang="en-IN" sz="1800" dirty="0"/>
              <a:t>Progress on Implementation</a:t>
            </a:r>
          </a:p>
          <a:p>
            <a:pPr algn="l">
              <a:buFont typeface="Wingdings" panose="05000000000000000000" pitchFamily="2" charset="2"/>
              <a:buChar char="Ø"/>
            </a:pPr>
            <a:r>
              <a:rPr lang="en-IN" sz="1800" dirty="0"/>
              <a:t>Methodology &amp; Proposed Approach</a:t>
            </a:r>
          </a:p>
          <a:p>
            <a:pPr algn="l">
              <a:buFont typeface="Wingdings" panose="05000000000000000000" pitchFamily="2" charset="2"/>
              <a:buChar char="Ø"/>
            </a:pPr>
            <a:r>
              <a:rPr lang="en-IN" sz="1800" dirty="0"/>
              <a:t>Result/Outputs Achieved So Far</a:t>
            </a:r>
          </a:p>
          <a:p>
            <a:pPr algn="l">
              <a:buFont typeface="Wingdings" panose="05000000000000000000" pitchFamily="2" charset="2"/>
              <a:buChar char="Ø"/>
            </a:pPr>
            <a:r>
              <a:rPr lang="en-IN" sz="1800" dirty="0"/>
              <a:t>Project Planning And Timeline</a:t>
            </a:r>
          </a:p>
          <a:p>
            <a:pPr algn="l">
              <a:buFont typeface="Wingdings" panose="05000000000000000000" pitchFamily="2" charset="2"/>
              <a:buChar char="Ø"/>
            </a:pPr>
            <a:r>
              <a:rPr lang="en-IN" sz="1800" dirty="0"/>
              <a:t>Team Collaboration &amp; Presentation</a:t>
            </a:r>
          </a:p>
          <a:p>
            <a:pPr algn="l">
              <a:buFont typeface="Wingdings" panose="05000000000000000000" pitchFamily="2" charset="2"/>
              <a:buChar char="Ø"/>
            </a:pPr>
            <a:r>
              <a:rPr lang="en-IN" sz="1800" dirty="0"/>
              <a:t>Conclusion</a:t>
            </a:r>
          </a:p>
        </p:txBody>
      </p:sp>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629174" y="402673"/>
            <a:ext cx="9009776" cy="578840"/>
          </a:xfrm>
        </p:spPr>
        <p:txBody>
          <a:bodyPr/>
          <a:lstStyle/>
          <a:p>
            <a:r>
              <a:rPr lang="en-IN" sz="4000" b="1" dirty="0"/>
              <a:t>Project Definition &amp; Objectives</a:t>
            </a:r>
          </a:p>
        </p:txBody>
      </p:sp>
      <p:pic>
        <p:nvPicPr>
          <p:cNvPr id="12" name="Picture Placeholder 11">
            <a:extLst>
              <a:ext uri="{FF2B5EF4-FFF2-40B4-BE49-F238E27FC236}">
                <a16:creationId xmlns:a16="http://schemas.microsoft.com/office/drawing/2014/main" id="{EB661FE1-FF24-70FD-C157-DBC9725574C6}"/>
              </a:ext>
            </a:extLst>
          </p:cNvPr>
          <p:cNvPicPr>
            <a:picLocks noGrp="1" noChangeAspect="1"/>
          </p:cNvPicPr>
          <p:nvPr>
            <p:ph sz="quarter" idx="10"/>
          </p:nvPr>
        </p:nvPicPr>
        <p:blipFill>
          <a:blip r:embed="rId3"/>
          <a:stretch>
            <a:fillRect/>
          </a:stretch>
        </p:blipFill>
        <p:spPr>
          <a:xfrm>
            <a:off x="7415869" y="1187072"/>
            <a:ext cx="3162648" cy="2856422"/>
          </a:xfrm>
        </p:spPr>
      </p:pic>
      <p:sp>
        <p:nvSpPr>
          <p:cNvPr id="13" name="TextBox 12">
            <a:extLst>
              <a:ext uri="{FF2B5EF4-FFF2-40B4-BE49-F238E27FC236}">
                <a16:creationId xmlns:a16="http://schemas.microsoft.com/office/drawing/2014/main" id="{F6FE8FAB-10BF-FEA3-A536-4C13FC11BD8C}"/>
              </a:ext>
            </a:extLst>
          </p:cNvPr>
          <p:cNvSpPr txBox="1"/>
          <p:nvPr/>
        </p:nvSpPr>
        <p:spPr>
          <a:xfrm>
            <a:off x="562063" y="1585519"/>
            <a:ext cx="3959604" cy="1754326"/>
          </a:xfrm>
          <a:prstGeom prst="rect">
            <a:avLst/>
          </a:prstGeom>
          <a:noFill/>
        </p:spPr>
        <p:txBody>
          <a:bodyPr wrap="square" rtlCol="0">
            <a:spAutoFit/>
          </a:bodyPr>
          <a:lstStyle/>
          <a:p>
            <a:pPr marL="285750" indent="-285750">
              <a:buFont typeface="Wingdings" panose="05000000000000000000" pitchFamily="2" charset="2"/>
              <a:buChar char="Ø"/>
            </a:pPr>
            <a:r>
              <a:rPr lang="en-IN" dirty="0"/>
              <a:t>Developing a diabetes prediction system using Machine Learning?</a:t>
            </a:r>
          </a:p>
          <a:p>
            <a:pPr marL="285750" indent="-285750">
              <a:buFont typeface="Wingdings" panose="05000000000000000000" pitchFamily="2" charset="2"/>
              <a:buChar char="Ø"/>
            </a:pPr>
            <a:r>
              <a:rPr lang="en-IN" dirty="0"/>
              <a:t>Uses patient information such as glucose, BMI, insulin levels and </a:t>
            </a:r>
            <a:r>
              <a:rPr lang="en-IN" dirty="0" err="1"/>
              <a:t>age.e</a:t>
            </a:r>
            <a:r>
              <a:rPr lang="en-IN" dirty="0"/>
              <a:t> ).</a:t>
            </a:r>
          </a:p>
          <a:p>
            <a:pPr marL="285750" indent="-285750">
              <a:buFont typeface="Wingdings" panose="05000000000000000000" pitchFamily="2" charset="2"/>
              <a:buChar char="Ø"/>
            </a:pPr>
            <a:r>
              <a:rPr lang="en-IN" dirty="0"/>
              <a:t>Provides classification: diabetic or non-diabetic.</a:t>
            </a:r>
          </a:p>
        </p:txBody>
      </p:sp>
      <p:sp>
        <p:nvSpPr>
          <p:cNvPr id="14" name="TextBox 13">
            <a:extLst>
              <a:ext uri="{FF2B5EF4-FFF2-40B4-BE49-F238E27FC236}">
                <a16:creationId xmlns:a16="http://schemas.microsoft.com/office/drawing/2014/main" id="{8F6B2E5B-4874-6769-33DF-A098F1915942}"/>
              </a:ext>
            </a:extLst>
          </p:cNvPr>
          <p:cNvSpPr txBox="1"/>
          <p:nvPr/>
        </p:nvSpPr>
        <p:spPr>
          <a:xfrm>
            <a:off x="4907560" y="4496499"/>
            <a:ext cx="3850546" cy="1477328"/>
          </a:xfrm>
          <a:prstGeom prst="rect">
            <a:avLst/>
          </a:prstGeom>
          <a:noFill/>
        </p:spPr>
        <p:txBody>
          <a:bodyPr wrap="square" rtlCol="0">
            <a:spAutoFit/>
          </a:bodyPr>
          <a:lstStyle/>
          <a:p>
            <a:pPr marL="285750" indent="-285750">
              <a:buFont typeface="Arial" panose="020B0604020202020204" pitchFamily="34" charset="0"/>
              <a:buChar char="•"/>
            </a:pPr>
            <a:r>
              <a:rPr lang="en-IN" dirty="0"/>
              <a:t>Predict diabetes using input features.</a:t>
            </a:r>
          </a:p>
          <a:p>
            <a:pPr marL="285750" indent="-285750">
              <a:buFont typeface="Arial" panose="020B0604020202020204" pitchFamily="34" charset="0"/>
              <a:buChar char="•"/>
            </a:pPr>
            <a:r>
              <a:rPr lang="en-IN" dirty="0"/>
              <a:t>Use PIMA Indian Diabetes Dataset.</a:t>
            </a:r>
          </a:p>
          <a:p>
            <a:pPr marL="285750" indent="-285750">
              <a:buFont typeface="Arial" panose="020B0604020202020204" pitchFamily="34" charset="0"/>
              <a:buChar char="•"/>
            </a:pPr>
            <a:r>
              <a:rPr lang="en-IN" dirty="0"/>
              <a:t>Which ML algorithms can be employed with XGBoost (or Random Forest) software?</a:t>
            </a:r>
          </a:p>
        </p:txBody>
      </p:sp>
      <p:sp>
        <p:nvSpPr>
          <p:cNvPr id="16" name="Rectangle: Rounded Corners 15">
            <a:extLst>
              <a:ext uri="{FF2B5EF4-FFF2-40B4-BE49-F238E27FC236}">
                <a16:creationId xmlns:a16="http://schemas.microsoft.com/office/drawing/2014/main" id="{1D2AADE1-9418-C44D-EDE0-3C26965BA6C4}"/>
              </a:ext>
            </a:extLst>
          </p:cNvPr>
          <p:cNvSpPr/>
          <p:nvPr/>
        </p:nvSpPr>
        <p:spPr>
          <a:xfrm>
            <a:off x="444616" y="4429387"/>
            <a:ext cx="3070370" cy="1518407"/>
          </a:xfrm>
          <a:prstGeom prst="round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solidFill>
                  <a:schemeClr val="tx1">
                    <a:lumMod val="50000"/>
                  </a:schemeClr>
                </a:solidFill>
              </a:rPr>
              <a:t>Model Accuracy:</a:t>
            </a:r>
            <a:endParaRPr lang="en-US" dirty="0">
              <a:solidFill>
                <a:schemeClr val="tx1">
                  <a:lumMod val="50000"/>
                </a:schemeClr>
              </a:solidFill>
            </a:endParaRPr>
          </a:p>
          <a:p>
            <a:r>
              <a:rPr lang="en-US" dirty="0">
                <a:solidFill>
                  <a:schemeClr val="tx1">
                    <a:lumMod val="50000"/>
                  </a:schemeClr>
                </a:solidFill>
              </a:rPr>
              <a:t>Random Forest: ~80% – 85%</a:t>
            </a:r>
          </a:p>
          <a:p>
            <a:r>
              <a:rPr lang="en-US" dirty="0">
                <a:solidFill>
                  <a:schemeClr val="tx1">
                    <a:lumMod val="50000"/>
                  </a:schemeClr>
                </a:solidFill>
              </a:rPr>
              <a:t>XGBoost: ~85% – 90% (Best Performance)</a:t>
            </a:r>
          </a:p>
          <a:p>
            <a:pPr algn="ctr"/>
            <a:endParaRPr lang="en-IN" dirty="0">
              <a:solidFill>
                <a:schemeClr val="accent1">
                  <a:lumMod val="50000"/>
                </a:schemeClr>
              </a:solidFill>
            </a:endParaRPr>
          </a:p>
        </p:txBody>
      </p:sp>
    </p:spTree>
    <p:extLst>
      <p:ext uri="{BB962C8B-B14F-4D97-AF65-F5344CB8AC3E}">
        <p14:creationId xmlns:p14="http://schemas.microsoft.com/office/powerpoint/2010/main" val="2222324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377AF6-2477-81EC-D1BC-43FD72DF18F6}"/>
              </a:ext>
            </a:extLst>
          </p:cNvPr>
          <p:cNvSpPr>
            <a:spLocks noGrp="1"/>
          </p:cNvSpPr>
          <p:nvPr>
            <p:ph type="title"/>
          </p:nvPr>
        </p:nvSpPr>
        <p:spPr>
          <a:xfrm>
            <a:off x="830510" y="285226"/>
            <a:ext cx="4412609" cy="780176"/>
          </a:xfrm>
        </p:spPr>
        <p:txBody>
          <a:bodyPr anchor="b"/>
          <a:lstStyle/>
          <a:p>
            <a:r>
              <a:rPr lang="en-US" sz="4000" dirty="0"/>
              <a:t>Introduction</a:t>
            </a:r>
          </a:p>
        </p:txBody>
      </p:sp>
      <p:sp>
        <p:nvSpPr>
          <p:cNvPr id="11" name="Content Placeholder 10">
            <a:extLst>
              <a:ext uri="{FF2B5EF4-FFF2-40B4-BE49-F238E27FC236}">
                <a16:creationId xmlns:a16="http://schemas.microsoft.com/office/drawing/2014/main" id="{000EBDF4-3413-FCF9-2E25-9A254A61F23E}"/>
              </a:ext>
            </a:extLst>
          </p:cNvPr>
          <p:cNvSpPr>
            <a:spLocks noGrp="1"/>
          </p:cNvSpPr>
          <p:nvPr>
            <p:ph sz="quarter" idx="12"/>
          </p:nvPr>
        </p:nvSpPr>
        <p:spPr>
          <a:xfrm>
            <a:off x="1174456" y="1720329"/>
            <a:ext cx="3640823" cy="2633557"/>
          </a:xfrm>
        </p:spPr>
        <p:txBody>
          <a:bodyPr>
            <a:normAutofit lnSpcReduction="10000"/>
          </a:bodyPr>
          <a:lstStyle/>
          <a:p>
            <a:pPr marL="342900" indent="-342900">
              <a:buFont typeface="Arial" panose="020B0604020202020204" pitchFamily="34" charset="0"/>
              <a:buChar char="•"/>
            </a:pPr>
            <a:r>
              <a:rPr lang="en-US" dirty="0"/>
              <a:t>Diabetes is a chronic disease affecting blood sugar levels</a:t>
            </a:r>
          </a:p>
          <a:p>
            <a:pPr marL="342900" indent="-342900">
              <a:buFont typeface="Arial" panose="020B0604020202020204" pitchFamily="34" charset="0"/>
              <a:buChar char="•"/>
            </a:pPr>
            <a:r>
              <a:rPr lang="en-US" dirty="0"/>
              <a:t>Causes: lack of insulin or insulin resistance</a:t>
            </a:r>
          </a:p>
          <a:p>
            <a:pPr marL="342900" indent="-342900">
              <a:buFont typeface="Arial" panose="020B0604020202020204" pitchFamily="34" charset="0"/>
              <a:buChar char="•"/>
            </a:pPr>
            <a:r>
              <a:rPr lang="en-US" dirty="0"/>
              <a:t>Leads to complications like heart disease, kidney failure</a:t>
            </a:r>
          </a:p>
          <a:p>
            <a:pPr marL="342900" indent="-342900">
              <a:buFont typeface="Arial" panose="020B0604020202020204" pitchFamily="34" charset="0"/>
              <a:buChar char="•"/>
            </a:pPr>
            <a:r>
              <a:rPr lang="en-US" dirty="0"/>
              <a:t>Early detection is important to prevent risks</a:t>
            </a:r>
          </a:p>
        </p:txBody>
      </p:sp>
      <p:pic>
        <p:nvPicPr>
          <p:cNvPr id="7" name="Picture 6">
            <a:extLst>
              <a:ext uri="{FF2B5EF4-FFF2-40B4-BE49-F238E27FC236}">
                <a16:creationId xmlns:a16="http://schemas.microsoft.com/office/drawing/2014/main" id="{AE23A291-5B12-F020-B53A-E3251FB4B417}"/>
              </a:ext>
            </a:extLst>
          </p:cNvPr>
          <p:cNvPicPr>
            <a:picLocks noChangeAspect="1"/>
          </p:cNvPicPr>
          <p:nvPr/>
        </p:nvPicPr>
        <p:blipFill>
          <a:blip r:embed="rId3"/>
          <a:stretch>
            <a:fillRect/>
          </a:stretch>
        </p:blipFill>
        <p:spPr>
          <a:xfrm>
            <a:off x="7254335" y="427839"/>
            <a:ext cx="3857625" cy="6098796"/>
          </a:xfrm>
          <a:prstGeom prst="rect">
            <a:avLst/>
          </a:prstGeom>
        </p:spPr>
      </p:pic>
    </p:spTree>
    <p:extLst>
      <p:ext uri="{BB962C8B-B14F-4D97-AF65-F5344CB8AC3E}">
        <p14:creationId xmlns:p14="http://schemas.microsoft.com/office/powerpoint/2010/main" val="520000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a:xfrm>
            <a:off x="738231" y="511728"/>
            <a:ext cx="7534656" cy="679508"/>
          </a:xfrm>
        </p:spPr>
        <p:txBody>
          <a:bodyPr/>
          <a:lstStyle/>
          <a:p>
            <a:r>
              <a:rPr lang="en-IN" sz="4000" b="1" dirty="0"/>
              <a:t>Literature Review</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713064" y="1812609"/>
            <a:ext cx="6308521" cy="2625167"/>
          </a:xfrm>
        </p:spPr>
        <p:txBody>
          <a:bodyPr/>
          <a:lstStyle/>
          <a:p>
            <a:r>
              <a:rPr lang="en-IN" dirty="0"/>
              <a:t>ML was used in several studies to predict the development of </a:t>
            </a:r>
            <a:r>
              <a:rPr lang="en-IN" dirty="0" err="1"/>
              <a:t>diabetes.The</a:t>
            </a:r>
            <a:r>
              <a:rPr lang="en-IN" dirty="0"/>
              <a:t> study findings were overwhelming.</a:t>
            </a:r>
          </a:p>
          <a:p>
            <a:r>
              <a:rPr lang="en-IN" dirty="0"/>
              <a:t>The algorithms utilized are Decision Tree, SVM and Random Forest.</a:t>
            </a:r>
          </a:p>
          <a:p>
            <a:r>
              <a:rPr lang="en-IN" dirty="0"/>
              <a:t>According to recent research, XGBoost is known to enhance performance.’</a:t>
            </a:r>
          </a:p>
          <a:p>
            <a:r>
              <a:rPr lang="en-IN" dirty="0"/>
              <a:t>Feature selection improves prediction accuracy.</a:t>
            </a:r>
            <a:endParaRPr lang="en-US"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pic>
        <p:nvPicPr>
          <p:cNvPr id="6" name="Picture 5">
            <a:extLst>
              <a:ext uri="{FF2B5EF4-FFF2-40B4-BE49-F238E27FC236}">
                <a16:creationId xmlns:a16="http://schemas.microsoft.com/office/drawing/2014/main" id="{FA8DEDE6-7F91-1B84-F024-A8706A3AA4A0}"/>
              </a:ext>
            </a:extLst>
          </p:cNvPr>
          <p:cNvPicPr>
            <a:picLocks noChangeAspect="1"/>
          </p:cNvPicPr>
          <p:nvPr/>
        </p:nvPicPr>
        <p:blipFill>
          <a:blip r:embed="rId3"/>
          <a:stretch>
            <a:fillRect/>
          </a:stretch>
        </p:blipFill>
        <p:spPr>
          <a:xfrm>
            <a:off x="7259011" y="1837320"/>
            <a:ext cx="4552950" cy="3971925"/>
          </a:xfrm>
          <a:prstGeom prst="rect">
            <a:avLst/>
          </a:prstGeom>
        </p:spPr>
      </p:pic>
    </p:spTree>
    <p:extLst>
      <p:ext uri="{BB962C8B-B14F-4D97-AF65-F5344CB8AC3E}">
        <p14:creationId xmlns:p14="http://schemas.microsoft.com/office/powerpoint/2010/main" val="1966913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2">
            <a:extLst>
              <a:ext uri="{FF2B5EF4-FFF2-40B4-BE49-F238E27FC236}">
                <a16:creationId xmlns:a16="http://schemas.microsoft.com/office/drawing/2014/main" id="{2A3D95EF-8A67-7F71-37EF-9EB02511B163}"/>
              </a:ext>
            </a:extLst>
          </p:cNvPr>
          <p:cNvSpPr>
            <a:spLocks noGrp="1"/>
          </p:cNvSpPr>
          <p:nvPr>
            <p:ph type="title"/>
          </p:nvPr>
        </p:nvSpPr>
        <p:spPr>
          <a:xfrm>
            <a:off x="738231" y="134224"/>
            <a:ext cx="10360152" cy="914400"/>
          </a:xfrm>
        </p:spPr>
        <p:txBody>
          <a:bodyPr anchor="b"/>
          <a:lstStyle/>
          <a:p>
            <a:r>
              <a:rPr lang="en-IN" sz="4000" b="1" dirty="0"/>
              <a:t>Progress on Implementation</a:t>
            </a:r>
          </a:p>
        </p:txBody>
      </p:sp>
      <p:sp>
        <p:nvSpPr>
          <p:cNvPr id="19" name="Content Placeholder 18">
            <a:extLst>
              <a:ext uri="{FF2B5EF4-FFF2-40B4-BE49-F238E27FC236}">
                <a16:creationId xmlns:a16="http://schemas.microsoft.com/office/drawing/2014/main" id="{F29A9CB4-902E-F6AB-7D55-FA1FF17EF785}"/>
              </a:ext>
            </a:extLst>
          </p:cNvPr>
          <p:cNvSpPr>
            <a:spLocks noGrp="1"/>
          </p:cNvSpPr>
          <p:nvPr>
            <p:ph sz="quarter" idx="12"/>
          </p:nvPr>
        </p:nvSpPr>
        <p:spPr>
          <a:xfrm>
            <a:off x="1098957" y="1653217"/>
            <a:ext cx="4238933" cy="2516111"/>
          </a:xfrm>
        </p:spPr>
        <p:txBody>
          <a:bodyPr>
            <a:normAutofit/>
          </a:bodyPr>
          <a:lstStyle/>
          <a:p>
            <a:pPr marL="342900" indent="-342900">
              <a:buFont typeface="Wingdings" panose="05000000000000000000" pitchFamily="2" charset="2"/>
              <a:buChar char="Ø"/>
            </a:pPr>
            <a:r>
              <a:rPr lang="en-IN" dirty="0"/>
              <a:t>Dataset collected from medical records.</a:t>
            </a:r>
          </a:p>
          <a:p>
            <a:pPr marL="342900" indent="-342900">
              <a:buFont typeface="Wingdings" panose="05000000000000000000" pitchFamily="2" charset="2"/>
              <a:buChar char="Ø"/>
            </a:pPr>
            <a:r>
              <a:rPr lang="en-IN" dirty="0"/>
              <a:t>Data preprocessing completed.</a:t>
            </a:r>
          </a:p>
          <a:p>
            <a:pPr marL="342900" indent="-342900">
              <a:buFont typeface="Wingdings" panose="05000000000000000000" pitchFamily="2" charset="2"/>
              <a:buChar char="Ø"/>
            </a:pPr>
            <a:r>
              <a:rPr lang="en-IN" dirty="0"/>
              <a:t>Feature selection applied.</a:t>
            </a:r>
          </a:p>
          <a:p>
            <a:pPr marL="342900" indent="-342900">
              <a:buFont typeface="Wingdings" panose="05000000000000000000" pitchFamily="2" charset="2"/>
              <a:buChar char="Ø"/>
            </a:pPr>
            <a:r>
              <a:rPr lang="en-IN" dirty="0"/>
              <a:t>Models implemented: Random Forest, XGBoost, </a:t>
            </a:r>
            <a:r>
              <a:rPr lang="en-IN" dirty="0" err="1"/>
              <a:t>LightGBM</a:t>
            </a:r>
            <a:r>
              <a:rPr lang="en-IN" dirty="0"/>
              <a:t>.</a:t>
            </a:r>
          </a:p>
        </p:txBody>
      </p:sp>
      <p:sp>
        <p:nvSpPr>
          <p:cNvPr id="22" name="Content Placeholder 21">
            <a:extLst>
              <a:ext uri="{FF2B5EF4-FFF2-40B4-BE49-F238E27FC236}">
                <a16:creationId xmlns:a16="http://schemas.microsoft.com/office/drawing/2014/main" id="{E0A6E06D-8E10-B329-1D94-DD7C3E4DCF7E}"/>
              </a:ext>
            </a:extLst>
          </p:cNvPr>
          <p:cNvSpPr>
            <a:spLocks noGrp="1"/>
          </p:cNvSpPr>
          <p:nvPr>
            <p:ph sz="quarter" idx="13"/>
          </p:nvPr>
        </p:nvSpPr>
        <p:spPr>
          <a:xfrm>
            <a:off x="5662568" y="3121291"/>
            <a:ext cx="5176008" cy="3069785"/>
          </a:xfrm>
        </p:spPr>
        <p:txBody>
          <a:bodyPr/>
          <a:lstStyle/>
          <a:p>
            <a:pPr marL="0" indent="0">
              <a:buNone/>
            </a:pPr>
            <a:r>
              <a:rPr lang="en-IN" b="1" dirty="0"/>
              <a:t>Technologies Used</a:t>
            </a:r>
            <a:endParaRPr lang="en-IN" dirty="0"/>
          </a:p>
          <a:p>
            <a:pPr lvl="0">
              <a:buFont typeface="Wingdings" panose="05000000000000000000" pitchFamily="2" charset="2"/>
              <a:buChar char="v"/>
            </a:pPr>
            <a:r>
              <a:rPr lang="en-IN" dirty="0"/>
              <a:t>Python</a:t>
            </a:r>
          </a:p>
          <a:p>
            <a:pPr lvl="0">
              <a:buFont typeface="Wingdings" panose="05000000000000000000" pitchFamily="2" charset="2"/>
              <a:buChar char="v"/>
            </a:pPr>
            <a:r>
              <a:rPr lang="en-IN" dirty="0"/>
              <a:t>Libraries: NumPy, Pandas, Scikit-learn</a:t>
            </a:r>
          </a:p>
          <a:p>
            <a:pPr lvl="0">
              <a:buFont typeface="Wingdings" panose="05000000000000000000" pitchFamily="2" charset="2"/>
              <a:buChar char="v"/>
            </a:pPr>
            <a:r>
              <a:rPr lang="en-IN" dirty="0"/>
              <a:t>Framework: Django</a:t>
            </a:r>
          </a:p>
          <a:p>
            <a:pPr lvl="0">
              <a:buFont typeface="Wingdings" panose="05000000000000000000" pitchFamily="2" charset="2"/>
              <a:buChar char="v"/>
            </a:pPr>
            <a:r>
              <a:rPr lang="en-IN" dirty="0"/>
              <a:t>Frontend: HTML</a:t>
            </a:r>
          </a:p>
          <a:p>
            <a:pPr lvl="0">
              <a:buFont typeface="Wingdings" panose="05000000000000000000" pitchFamily="2" charset="2"/>
              <a:buChar char="v"/>
            </a:pPr>
            <a:r>
              <a:rPr lang="en-IN" dirty="0"/>
              <a:t>Tools: </a:t>
            </a:r>
            <a:r>
              <a:rPr lang="en-IN" dirty="0" err="1"/>
              <a:t>Jupyter</a:t>
            </a:r>
            <a:r>
              <a:rPr lang="en-IN" dirty="0"/>
              <a:t> Notebook / VS Code</a:t>
            </a:r>
          </a:p>
        </p:txBody>
      </p:sp>
    </p:spTree>
    <p:extLst>
      <p:ext uri="{BB962C8B-B14F-4D97-AF65-F5344CB8AC3E}">
        <p14:creationId xmlns:p14="http://schemas.microsoft.com/office/powerpoint/2010/main" val="1096717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a:xfrm>
            <a:off x="713064" y="469782"/>
            <a:ext cx="10360152" cy="654341"/>
          </a:xfrm>
        </p:spPr>
        <p:txBody>
          <a:bodyPr/>
          <a:lstStyle/>
          <a:p>
            <a:r>
              <a:rPr lang="en-IN" sz="4000" b="1" dirty="0"/>
              <a:t>Methodology &amp; Proposed Approach</a:t>
            </a:r>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973122" y="1586107"/>
            <a:ext cx="4576953" cy="3027838"/>
          </a:xfrm>
        </p:spPr>
        <p:txBody>
          <a:bodyPr/>
          <a:lstStyle/>
          <a:p>
            <a:pPr marL="342900" indent="-342900">
              <a:buFont typeface="Wingdings" panose="05000000000000000000" pitchFamily="2" charset="2"/>
              <a:buChar char="Ø"/>
            </a:pPr>
            <a:r>
              <a:rPr lang="en-IN" dirty="0"/>
              <a:t>Analyze the factors that are taken into account, such as age, BMI, and insulin levels.</a:t>
            </a:r>
          </a:p>
          <a:p>
            <a:pPr marL="342900" indent="-342900">
              <a:buFont typeface="Wingdings" panose="05000000000000000000" pitchFamily="2" charset="2"/>
              <a:buChar char="Ø"/>
            </a:pPr>
            <a:r>
              <a:rPr lang="en-IN" dirty="0"/>
              <a:t>Data collection and preprocessing.</a:t>
            </a:r>
          </a:p>
          <a:p>
            <a:pPr marL="342900" indent="-342900">
              <a:buFont typeface="Wingdings" panose="05000000000000000000" pitchFamily="2" charset="2"/>
              <a:buChar char="Ø"/>
            </a:pPr>
            <a:r>
              <a:rPr lang="en-IN" dirty="0"/>
              <a:t>Algorithm selection and comparison.</a:t>
            </a:r>
          </a:p>
          <a:p>
            <a:pPr marL="342900" indent="-342900">
              <a:buFont typeface="Wingdings" panose="05000000000000000000" pitchFamily="2" charset="2"/>
              <a:buChar char="Ø"/>
            </a:pPr>
            <a:r>
              <a:rPr lang="en-IN" dirty="0"/>
              <a:t>Model implementation.</a:t>
            </a:r>
          </a:p>
          <a:p>
            <a:pPr marL="342900" indent="-342900">
              <a:buFont typeface="Wingdings" panose="05000000000000000000" pitchFamily="2" charset="2"/>
              <a:buChar char="Ø"/>
            </a:pPr>
            <a:r>
              <a:rPr lang="en-IN" dirty="0"/>
              <a:t>Performance evaluation using metrics.</a:t>
            </a:r>
            <a:br>
              <a:rPr lang="en-IN" dirty="0"/>
            </a:br>
            <a:endParaRPr lang="en-US"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7</a:t>
            </a:fld>
            <a:endParaRPr lang="en-US" dirty="0"/>
          </a:p>
        </p:txBody>
      </p:sp>
      <p:pic>
        <p:nvPicPr>
          <p:cNvPr id="4" name="Picture 3">
            <a:extLst>
              <a:ext uri="{FF2B5EF4-FFF2-40B4-BE49-F238E27FC236}">
                <a16:creationId xmlns:a16="http://schemas.microsoft.com/office/drawing/2014/main" id="{66751D65-F3D2-0097-D054-8003728BC498}"/>
              </a:ext>
            </a:extLst>
          </p:cNvPr>
          <p:cNvPicPr>
            <a:picLocks noChangeAspect="1"/>
          </p:cNvPicPr>
          <p:nvPr/>
        </p:nvPicPr>
        <p:blipFill>
          <a:blip r:embed="rId3"/>
          <a:stretch>
            <a:fillRect/>
          </a:stretch>
        </p:blipFill>
        <p:spPr>
          <a:xfrm>
            <a:off x="6601942" y="2030137"/>
            <a:ext cx="5050368" cy="3531766"/>
          </a:xfrm>
          <a:prstGeom prst="rect">
            <a:avLst/>
          </a:prstGeom>
        </p:spPr>
      </p:pic>
    </p:spTree>
    <p:extLst>
      <p:ext uri="{BB962C8B-B14F-4D97-AF65-F5344CB8AC3E}">
        <p14:creationId xmlns:p14="http://schemas.microsoft.com/office/powerpoint/2010/main" val="42301069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a:xfrm>
            <a:off x="1006679" y="335560"/>
            <a:ext cx="6249798" cy="780176"/>
          </a:xfrm>
        </p:spPr>
        <p:txBody>
          <a:bodyPr/>
          <a:lstStyle/>
          <a:p>
            <a:r>
              <a:rPr lang="en-IN" sz="4000" b="1" dirty="0"/>
              <a:t>System Architecture</a:t>
            </a:r>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7155809" y="1980389"/>
            <a:ext cx="3364992" cy="2457387"/>
          </a:xfrm>
        </p:spPr>
        <p:txBody>
          <a:bodyPr/>
          <a:lstStyle/>
          <a:p>
            <a:pPr marL="342900" indent="-342900">
              <a:buFont typeface="Wingdings" panose="05000000000000000000" pitchFamily="2" charset="2"/>
              <a:buChar char="v"/>
            </a:pPr>
            <a:r>
              <a:rPr lang="en-US" dirty="0"/>
              <a:t>User enters health data</a:t>
            </a:r>
          </a:p>
          <a:p>
            <a:pPr marL="342900" indent="-342900">
              <a:buFont typeface="Wingdings" panose="05000000000000000000" pitchFamily="2" charset="2"/>
              <a:buChar char="v"/>
            </a:pPr>
            <a:r>
              <a:rPr lang="en-US" dirty="0"/>
              <a:t>System processes data</a:t>
            </a:r>
          </a:p>
          <a:p>
            <a:pPr marL="342900" indent="-342900">
              <a:buFont typeface="Wingdings" panose="05000000000000000000" pitchFamily="2" charset="2"/>
              <a:buChar char="v"/>
            </a:pPr>
            <a:r>
              <a:rPr lang="en-US" dirty="0"/>
              <a:t>ML model predicts result</a:t>
            </a:r>
          </a:p>
          <a:p>
            <a:pPr marL="342900" indent="-342900">
              <a:buFont typeface="Wingdings" panose="05000000000000000000" pitchFamily="2" charset="2"/>
              <a:buChar char="v"/>
            </a:pPr>
            <a:r>
              <a:rPr lang="en-US" dirty="0"/>
              <a:t>Output displayed to user</a:t>
            </a:r>
          </a:p>
          <a:p>
            <a:pPr marL="342900" indent="-342900">
              <a:buFont typeface="Wingdings" panose="05000000000000000000" pitchFamily="2" charset="2"/>
              <a:buChar char="v"/>
            </a:pPr>
            <a:r>
              <a:rPr lang="en-US" dirty="0"/>
              <a:t>Admin manages dataset and training</a:t>
            </a:r>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pic>
        <p:nvPicPr>
          <p:cNvPr id="6" name="Picture 5">
            <a:extLst>
              <a:ext uri="{FF2B5EF4-FFF2-40B4-BE49-F238E27FC236}">
                <a16:creationId xmlns:a16="http://schemas.microsoft.com/office/drawing/2014/main" id="{B0BED3C2-2806-A427-97B0-052B82078808}"/>
              </a:ext>
            </a:extLst>
          </p:cNvPr>
          <p:cNvPicPr>
            <a:picLocks noChangeAspect="1"/>
          </p:cNvPicPr>
          <p:nvPr/>
        </p:nvPicPr>
        <p:blipFill>
          <a:blip r:embed="rId3"/>
          <a:stretch>
            <a:fillRect/>
          </a:stretch>
        </p:blipFill>
        <p:spPr>
          <a:xfrm>
            <a:off x="728183" y="1577173"/>
            <a:ext cx="5467350" cy="2847975"/>
          </a:xfrm>
          <a:prstGeom prst="rect">
            <a:avLst/>
          </a:prstGeom>
        </p:spPr>
      </p:pic>
      <p:sp>
        <p:nvSpPr>
          <p:cNvPr id="7" name="TextBox 6">
            <a:extLst>
              <a:ext uri="{FF2B5EF4-FFF2-40B4-BE49-F238E27FC236}">
                <a16:creationId xmlns:a16="http://schemas.microsoft.com/office/drawing/2014/main" id="{66E7A6DD-BE8E-AB83-1FAC-E7D92ADC5986}"/>
              </a:ext>
            </a:extLst>
          </p:cNvPr>
          <p:cNvSpPr txBox="1"/>
          <p:nvPr/>
        </p:nvSpPr>
        <p:spPr>
          <a:xfrm>
            <a:off x="1879134" y="4790114"/>
            <a:ext cx="8221211" cy="1477328"/>
          </a:xfrm>
          <a:prstGeom prst="rect">
            <a:avLst/>
          </a:prstGeom>
          <a:noFill/>
        </p:spPr>
        <p:txBody>
          <a:bodyPr wrap="square" rtlCol="0">
            <a:spAutoFit/>
          </a:bodyPr>
          <a:lstStyle/>
          <a:p>
            <a:pPr marL="285750" indent="-285750">
              <a:buFont typeface="Arial" panose="020B0604020202020204" pitchFamily="34" charset="0"/>
              <a:buChar char="•"/>
            </a:pPr>
            <a:r>
              <a:rPr lang="en-US" dirty="0"/>
              <a:t>The diagram outlines a machine learning workflow using EHR data. It involves data preprocessing, splitting into training and test sets, hyperparameter tuning, training models (RF, SVM, XGBoost), performing K-fold cross-validation, and evaluating model performance to finalize the process.</a:t>
            </a:r>
            <a:endParaRPr lang="en-IN" dirty="0"/>
          </a:p>
          <a:p>
            <a:endParaRPr lang="en-IN" dirty="0"/>
          </a:p>
        </p:txBody>
      </p:sp>
    </p:spTree>
    <p:extLst>
      <p:ext uri="{BB962C8B-B14F-4D97-AF65-F5344CB8AC3E}">
        <p14:creationId xmlns:p14="http://schemas.microsoft.com/office/powerpoint/2010/main" val="37483489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a:xfrm>
            <a:off x="687897" y="58723"/>
            <a:ext cx="10360152" cy="696286"/>
          </a:xfrm>
        </p:spPr>
        <p:txBody>
          <a:bodyPr/>
          <a:lstStyle/>
          <a:p>
            <a:r>
              <a:rPr lang="en-IN" sz="4000" b="1" dirty="0"/>
              <a:t>Results / Outputs</a:t>
            </a:r>
          </a:p>
        </p:txBody>
      </p:sp>
      <p:pic>
        <p:nvPicPr>
          <p:cNvPr id="8" name="Image 29">
            <a:extLst>
              <a:ext uri="{FF2B5EF4-FFF2-40B4-BE49-F238E27FC236}">
                <a16:creationId xmlns:a16="http://schemas.microsoft.com/office/drawing/2014/main" id="{E6F5B7D5-143D-E118-ABBB-6AC3EF83E661}"/>
              </a:ext>
            </a:extLst>
          </p:cNvPr>
          <p:cNvPicPr>
            <a:picLocks noGrp="1"/>
          </p:cNvPicPr>
          <p:nvPr>
            <p:ph type="tbl" sz="quarter" idx="14"/>
          </p:nvPr>
        </p:nvPicPr>
        <p:blipFill>
          <a:blip r:embed="rId3" cstate="print"/>
          <a:stretch>
            <a:fillRect/>
          </a:stretch>
        </p:blipFill>
        <p:spPr>
          <a:xfrm>
            <a:off x="687897" y="1350664"/>
            <a:ext cx="10142290" cy="4681020"/>
          </a:xfrm>
          <a:prstGeom prst="rect">
            <a:avLst/>
          </a:prstGeom>
        </p:spPr>
      </p:pic>
    </p:spTree>
    <p:extLst>
      <p:ext uri="{BB962C8B-B14F-4D97-AF65-F5344CB8AC3E}">
        <p14:creationId xmlns:p14="http://schemas.microsoft.com/office/powerpoint/2010/main" val="859909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p:txBody>
          <a:bodyPr/>
          <a:lstStyle/>
          <a:p>
            <a:fld id="{58FB4751-880F-D840-AAA9-3A15815CC996}" type="slidenum">
              <a:rPr lang="en-US" smtClean="0"/>
              <a:pPr/>
              <a:t>10</a:t>
            </a:fld>
            <a:endParaRPr lang="en-US" dirty="0"/>
          </a:p>
        </p:txBody>
      </p:sp>
      <p:sp>
        <p:nvSpPr>
          <p:cNvPr id="17" name="Title 16">
            <a:extLst>
              <a:ext uri="{FF2B5EF4-FFF2-40B4-BE49-F238E27FC236}">
                <a16:creationId xmlns:a16="http://schemas.microsoft.com/office/drawing/2014/main" id="{96E3FD31-D19A-BFEB-821F-C00103830DC9}"/>
              </a:ext>
            </a:extLst>
          </p:cNvPr>
          <p:cNvSpPr>
            <a:spLocks noGrp="1"/>
          </p:cNvSpPr>
          <p:nvPr>
            <p:ph type="title" idx="4294967295"/>
          </p:nvPr>
        </p:nvSpPr>
        <p:spPr>
          <a:xfrm>
            <a:off x="838899" y="838899"/>
            <a:ext cx="2256639" cy="914400"/>
          </a:xfrm>
        </p:spPr>
        <p:txBody>
          <a:bodyPr/>
          <a:lstStyle/>
          <a:p>
            <a:r>
              <a:rPr lang="en-US" sz="3200" dirty="0"/>
              <a:t>Output:</a:t>
            </a:r>
            <a:endParaRPr lang="en-US" dirty="0"/>
          </a:p>
        </p:txBody>
      </p:sp>
      <p:pic>
        <p:nvPicPr>
          <p:cNvPr id="2" name="Image 30" descr="Screenshot (3)(1)">
            <a:extLst>
              <a:ext uri="{FF2B5EF4-FFF2-40B4-BE49-F238E27FC236}">
                <a16:creationId xmlns:a16="http://schemas.microsoft.com/office/drawing/2014/main" id="{A197A1B4-56A7-EEEF-BAD8-9979DEBDDF54}"/>
              </a:ext>
            </a:extLst>
          </p:cNvPr>
          <p:cNvPicPr>
            <a:picLocks/>
          </p:cNvPicPr>
          <p:nvPr/>
        </p:nvPicPr>
        <p:blipFill>
          <a:blip r:embed="rId2" cstate="print"/>
          <a:stretch>
            <a:fillRect/>
          </a:stretch>
        </p:blipFill>
        <p:spPr>
          <a:xfrm>
            <a:off x="1940172" y="2100173"/>
            <a:ext cx="2657475" cy="459740"/>
          </a:xfrm>
          <a:prstGeom prst="rect">
            <a:avLst/>
          </a:prstGeom>
        </p:spPr>
      </p:pic>
      <p:sp>
        <p:nvSpPr>
          <p:cNvPr id="4" name="TextBox 3">
            <a:extLst>
              <a:ext uri="{FF2B5EF4-FFF2-40B4-BE49-F238E27FC236}">
                <a16:creationId xmlns:a16="http://schemas.microsoft.com/office/drawing/2014/main" id="{721508A0-ADA4-6BAE-3EA7-C944B44E2C83}"/>
              </a:ext>
            </a:extLst>
          </p:cNvPr>
          <p:cNvSpPr txBox="1"/>
          <p:nvPr/>
        </p:nvSpPr>
        <p:spPr>
          <a:xfrm>
            <a:off x="7315200" y="654341"/>
            <a:ext cx="4756558" cy="2308324"/>
          </a:xfrm>
          <a:prstGeom prst="rect">
            <a:avLst/>
          </a:prstGeom>
          <a:noFill/>
        </p:spPr>
        <p:txBody>
          <a:bodyPr wrap="square" rtlCol="0">
            <a:spAutoFit/>
          </a:bodyPr>
          <a:lstStyle/>
          <a:p>
            <a:pPr marL="285750" lvl="0" indent="-285750">
              <a:buFont typeface="Wingdings" panose="05000000000000000000" pitchFamily="2" charset="2"/>
              <a:buChar char="Ø"/>
            </a:pPr>
            <a:r>
              <a:rPr lang="en-IN" dirty="0"/>
              <a:t>Models evaluated using:</a:t>
            </a:r>
          </a:p>
          <a:p>
            <a:pPr marL="742950" lvl="1" indent="-285750">
              <a:buFont typeface="Arial" panose="020B0604020202020204" pitchFamily="34" charset="0"/>
              <a:buChar char="•"/>
            </a:pPr>
            <a:r>
              <a:rPr lang="en-IN" dirty="0"/>
              <a:t>Accuracy</a:t>
            </a:r>
          </a:p>
          <a:p>
            <a:pPr marL="742950" lvl="1" indent="-285750">
              <a:buFont typeface="Arial" panose="020B0604020202020204" pitchFamily="34" charset="0"/>
              <a:buChar char="•"/>
            </a:pPr>
            <a:r>
              <a:rPr lang="en-IN" dirty="0"/>
              <a:t>Precision</a:t>
            </a:r>
          </a:p>
          <a:p>
            <a:pPr marL="742950" lvl="1" indent="-285750">
              <a:buFont typeface="Arial" panose="020B0604020202020204" pitchFamily="34" charset="0"/>
              <a:buChar char="•"/>
            </a:pPr>
            <a:r>
              <a:rPr lang="en-IN" dirty="0"/>
              <a:t>Recall</a:t>
            </a:r>
          </a:p>
          <a:p>
            <a:pPr marL="742950" lvl="1" indent="-285750">
              <a:buFont typeface="Arial" panose="020B0604020202020204" pitchFamily="34" charset="0"/>
              <a:buChar char="•"/>
            </a:pPr>
            <a:r>
              <a:rPr lang="en-IN" dirty="0"/>
              <a:t>F1-score </a:t>
            </a:r>
          </a:p>
          <a:p>
            <a:pPr marL="285750" lvl="0" indent="-285750">
              <a:buFont typeface="Wingdings" panose="05000000000000000000" pitchFamily="2" charset="2"/>
              <a:buChar char="Ø"/>
            </a:pPr>
            <a:r>
              <a:rPr lang="en-IN" dirty="0"/>
              <a:t>XGBoost achieved high accuracy</a:t>
            </a:r>
          </a:p>
          <a:p>
            <a:pPr marL="285750" lvl="0" indent="-285750">
              <a:buFont typeface="Wingdings" panose="05000000000000000000" pitchFamily="2" charset="2"/>
              <a:buChar char="Ø"/>
            </a:pPr>
            <a:r>
              <a:rPr lang="en-IN" dirty="0"/>
              <a:t>System predicts diabetes based on user input</a:t>
            </a:r>
          </a:p>
          <a:p>
            <a:endParaRPr lang="en-IN" dirty="0"/>
          </a:p>
        </p:txBody>
      </p:sp>
      <p:sp>
        <p:nvSpPr>
          <p:cNvPr id="8" name="TextBox 7">
            <a:extLst>
              <a:ext uri="{FF2B5EF4-FFF2-40B4-BE49-F238E27FC236}">
                <a16:creationId xmlns:a16="http://schemas.microsoft.com/office/drawing/2014/main" id="{4C537172-8B92-4E01-E2A4-3EE2713E598F}"/>
              </a:ext>
            </a:extLst>
          </p:cNvPr>
          <p:cNvSpPr txBox="1"/>
          <p:nvPr/>
        </p:nvSpPr>
        <p:spPr>
          <a:xfrm>
            <a:off x="436228" y="4202884"/>
            <a:ext cx="6509857" cy="1477328"/>
          </a:xfrm>
          <a:prstGeom prst="rect">
            <a:avLst/>
          </a:prstGeom>
          <a:noFill/>
        </p:spPr>
        <p:txBody>
          <a:bodyPr wrap="square" rtlCol="0">
            <a:spAutoFit/>
          </a:bodyPr>
          <a:lstStyle/>
          <a:p>
            <a:r>
              <a:rPr lang="en-US" dirty="0"/>
              <a:t>Among all the models, XGBoost demonstrated the highest accuracy and overall performance due to its advanced boosting technique, which enhances prediction capability and reduces errors. Random Forest also showed strong performance with good generalization and lower chances of overfitting. </a:t>
            </a:r>
            <a:endParaRPr lang="en-IN" dirty="0"/>
          </a:p>
        </p:txBody>
      </p:sp>
      <p:pic>
        <p:nvPicPr>
          <p:cNvPr id="9" name="Image 27">
            <a:extLst>
              <a:ext uri="{FF2B5EF4-FFF2-40B4-BE49-F238E27FC236}">
                <a16:creationId xmlns:a16="http://schemas.microsoft.com/office/drawing/2014/main" id="{BE4F6283-753D-FA2B-7AB9-9A0D793D6CAB}"/>
              </a:ext>
            </a:extLst>
          </p:cNvPr>
          <p:cNvPicPr>
            <a:picLocks/>
          </p:cNvPicPr>
          <p:nvPr/>
        </p:nvPicPr>
        <p:blipFill>
          <a:blip r:embed="rId3" cstate="print"/>
          <a:stretch>
            <a:fillRect/>
          </a:stretch>
        </p:blipFill>
        <p:spPr>
          <a:xfrm>
            <a:off x="7612154" y="3393130"/>
            <a:ext cx="3612317" cy="1891936"/>
          </a:xfrm>
          <a:prstGeom prst="rect">
            <a:avLst/>
          </a:prstGeom>
        </p:spPr>
      </p:pic>
    </p:spTree>
    <p:extLst>
      <p:ext uri="{BB962C8B-B14F-4D97-AF65-F5344CB8AC3E}">
        <p14:creationId xmlns:p14="http://schemas.microsoft.com/office/powerpoint/2010/main" val="537809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ctrTitle"/>
          </p:nvPr>
        </p:nvSpPr>
        <p:spPr>
          <a:xfrm>
            <a:off x="637563" y="411061"/>
            <a:ext cx="5641848" cy="629174"/>
          </a:xfrm>
        </p:spPr>
        <p:txBody>
          <a:bodyPr/>
          <a:lstStyle/>
          <a:p>
            <a:r>
              <a:rPr lang="en-IN" sz="4000" b="1" dirty="0"/>
              <a:t>Conclusion</a:t>
            </a:r>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294967295"/>
          </p:nvPr>
        </p:nvSpPr>
        <p:spPr>
          <a:xfrm>
            <a:off x="11530013" y="5880100"/>
            <a:ext cx="661987" cy="895350"/>
          </a:xfrm>
        </p:spPr>
        <p:txBody>
          <a:bodyPr/>
          <a:lstStyle/>
          <a:p>
            <a:fld id="{58FB4751-880F-D840-AAA9-3A15815CC996}" type="slidenum">
              <a:rPr lang="en-US" smtClean="0"/>
              <a:pPr/>
              <a:t>11</a:t>
            </a:fld>
            <a:endParaRPr lang="en-US" dirty="0"/>
          </a:p>
        </p:txBody>
      </p:sp>
      <p:sp>
        <p:nvSpPr>
          <p:cNvPr id="13" name="TextBox 12">
            <a:extLst>
              <a:ext uri="{FF2B5EF4-FFF2-40B4-BE49-F238E27FC236}">
                <a16:creationId xmlns:a16="http://schemas.microsoft.com/office/drawing/2014/main" id="{08A55691-D26B-158D-172F-E48E8427E49C}"/>
              </a:ext>
            </a:extLst>
          </p:cNvPr>
          <p:cNvSpPr txBox="1"/>
          <p:nvPr/>
        </p:nvSpPr>
        <p:spPr>
          <a:xfrm>
            <a:off x="6400799" y="2080470"/>
            <a:ext cx="3548543" cy="1754326"/>
          </a:xfrm>
          <a:prstGeom prst="rect">
            <a:avLst/>
          </a:prstGeom>
          <a:noFill/>
        </p:spPr>
        <p:txBody>
          <a:bodyPr wrap="square" rtlCol="0">
            <a:spAutoFit/>
          </a:bodyPr>
          <a:lstStyle/>
          <a:p>
            <a:pPr marL="285750" lvl="0" indent="-285750">
              <a:buFont typeface="Arial" panose="020B0604020202020204" pitchFamily="34" charset="0"/>
              <a:buChar char="•"/>
            </a:pPr>
            <a:r>
              <a:rPr lang="en-IN" dirty="0"/>
              <a:t>ML models are effective for diabetes prediction</a:t>
            </a:r>
          </a:p>
          <a:p>
            <a:pPr marL="285750" lvl="0" indent="-285750">
              <a:buFont typeface="Arial" panose="020B0604020202020204" pitchFamily="34" charset="0"/>
              <a:buChar char="•"/>
            </a:pPr>
            <a:r>
              <a:rPr lang="en-IN" dirty="0"/>
              <a:t>XGBoost provides high accuracy</a:t>
            </a:r>
          </a:p>
          <a:p>
            <a:pPr marL="285750" lvl="0" indent="-285750">
              <a:buFont typeface="Arial" panose="020B0604020202020204" pitchFamily="34" charset="0"/>
              <a:buChar char="•"/>
            </a:pPr>
            <a:r>
              <a:rPr lang="en-IN" dirty="0"/>
              <a:t>Random Forest reduces overfitting</a:t>
            </a:r>
          </a:p>
          <a:p>
            <a:pPr marL="285750" lvl="0" indent="-285750">
              <a:buFont typeface="Arial" panose="020B0604020202020204" pitchFamily="34" charset="0"/>
              <a:buChar char="•"/>
            </a:pPr>
            <a:r>
              <a:rPr lang="en-IN" dirty="0"/>
              <a:t>System can be improved using real-time data</a:t>
            </a:r>
          </a:p>
        </p:txBody>
      </p:sp>
      <p:sp>
        <p:nvSpPr>
          <p:cNvPr id="14" name="TextBox 13">
            <a:extLst>
              <a:ext uri="{FF2B5EF4-FFF2-40B4-BE49-F238E27FC236}">
                <a16:creationId xmlns:a16="http://schemas.microsoft.com/office/drawing/2014/main" id="{6C0B419E-026E-C513-56EC-6E5D46120698}"/>
              </a:ext>
            </a:extLst>
          </p:cNvPr>
          <p:cNvSpPr txBox="1"/>
          <p:nvPr/>
        </p:nvSpPr>
        <p:spPr>
          <a:xfrm>
            <a:off x="6157519" y="1199626"/>
            <a:ext cx="3884103" cy="1200329"/>
          </a:xfrm>
          <a:prstGeom prst="rect">
            <a:avLst/>
          </a:prstGeom>
          <a:noFill/>
        </p:spPr>
        <p:txBody>
          <a:bodyPr wrap="square" rtlCol="0">
            <a:spAutoFit/>
          </a:bodyPr>
          <a:lstStyle/>
          <a:p>
            <a:r>
              <a:rPr lang="en-US" dirty="0">
                <a:solidFill>
                  <a:srgbClr val="000000"/>
                </a:solidFill>
                <a:ea typeface="Optima" pitchFamily="34" charset="-122"/>
                <a:cs typeface="Optima" pitchFamily="34" charset="-120"/>
              </a:rPr>
              <a:t>These technological advances can lead to better health outcomes through early detection and personalized treatment.</a:t>
            </a:r>
            <a:endParaRPr lang="en-US" dirty="0"/>
          </a:p>
          <a:p>
            <a:endParaRPr lang="en-IN" dirty="0"/>
          </a:p>
        </p:txBody>
      </p:sp>
      <p:pic>
        <p:nvPicPr>
          <p:cNvPr id="16" name="Picture 15">
            <a:extLst>
              <a:ext uri="{FF2B5EF4-FFF2-40B4-BE49-F238E27FC236}">
                <a16:creationId xmlns:a16="http://schemas.microsoft.com/office/drawing/2014/main" id="{DD819FED-FBFB-B7FD-3E35-BD6E901A89A7}"/>
              </a:ext>
            </a:extLst>
          </p:cNvPr>
          <p:cNvPicPr>
            <a:picLocks noChangeAspect="1"/>
          </p:cNvPicPr>
          <p:nvPr/>
        </p:nvPicPr>
        <p:blipFill>
          <a:blip r:embed="rId3"/>
          <a:stretch>
            <a:fillRect/>
          </a:stretch>
        </p:blipFill>
        <p:spPr>
          <a:xfrm>
            <a:off x="459837" y="1396766"/>
            <a:ext cx="4682614" cy="5310232"/>
          </a:xfrm>
          <a:prstGeom prst="rect">
            <a:avLst/>
          </a:prstGeom>
        </p:spPr>
      </p:pic>
      <p:sp>
        <p:nvSpPr>
          <p:cNvPr id="17" name="TextBox 16">
            <a:extLst>
              <a:ext uri="{FF2B5EF4-FFF2-40B4-BE49-F238E27FC236}">
                <a16:creationId xmlns:a16="http://schemas.microsoft.com/office/drawing/2014/main" id="{0F3234F7-DA20-3AE3-2B30-338C1D3C2129}"/>
              </a:ext>
            </a:extLst>
          </p:cNvPr>
          <p:cNvSpPr txBox="1"/>
          <p:nvPr/>
        </p:nvSpPr>
        <p:spPr>
          <a:xfrm>
            <a:off x="6283354" y="4110605"/>
            <a:ext cx="3984771" cy="1754326"/>
          </a:xfrm>
          <a:prstGeom prst="rect">
            <a:avLst/>
          </a:prstGeom>
          <a:noFill/>
        </p:spPr>
        <p:txBody>
          <a:bodyPr wrap="square" rtlCol="0">
            <a:spAutoFit/>
          </a:bodyPr>
          <a:lstStyle/>
          <a:p>
            <a:r>
              <a:rPr lang="en-IN" b="1" dirty="0"/>
              <a:t>Future Scope</a:t>
            </a:r>
            <a:endParaRPr lang="en-IN" dirty="0"/>
          </a:p>
          <a:p>
            <a:pPr lvl="0"/>
            <a:r>
              <a:rPr lang="en-IN" dirty="0"/>
              <a:t>Integration with real-time health data</a:t>
            </a:r>
          </a:p>
          <a:p>
            <a:pPr lvl="0"/>
            <a:r>
              <a:rPr lang="en-IN" dirty="0"/>
              <a:t>Cloud-based deployment</a:t>
            </a:r>
          </a:p>
          <a:p>
            <a:pPr lvl="0"/>
            <a:r>
              <a:rPr lang="en-IN" dirty="0"/>
              <a:t>Use of wearable devices</a:t>
            </a:r>
          </a:p>
          <a:p>
            <a:pPr lvl="0"/>
            <a:r>
              <a:rPr lang="en-IN" dirty="0"/>
              <a:t>Improve accuracy with advanced models</a:t>
            </a:r>
          </a:p>
          <a:p>
            <a:endParaRPr lang="en-IN" dirty="0"/>
          </a:p>
        </p:txBody>
      </p:sp>
    </p:spTree>
    <p:extLst>
      <p:ext uri="{BB962C8B-B14F-4D97-AF65-F5344CB8AC3E}">
        <p14:creationId xmlns:p14="http://schemas.microsoft.com/office/powerpoint/2010/main" val="4132147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a:xfrm>
            <a:off x="1442906" y="788565"/>
            <a:ext cx="5641848" cy="4429387"/>
          </a:xfrm>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7587087" y="4588777"/>
            <a:ext cx="3947775" cy="1761689"/>
          </a:xfrm>
        </p:spPr>
        <p:txBody>
          <a:bodyPr anchor="ctr">
            <a:normAutofit fontScale="77500" lnSpcReduction="20000"/>
          </a:bodyPr>
          <a:lstStyle/>
          <a:p>
            <a:r>
              <a:rPr lang="en-US" b="1" dirty="0"/>
              <a:t>Team Members:</a:t>
            </a:r>
          </a:p>
          <a:p>
            <a:r>
              <a:rPr lang="en-US" dirty="0"/>
              <a:t>Mittapelly Akhila(2203A51119)</a:t>
            </a:r>
          </a:p>
          <a:p>
            <a:r>
              <a:rPr lang="en-IN" dirty="0"/>
              <a:t>Bongu Preethika(2203A51106)</a:t>
            </a:r>
          </a:p>
          <a:p>
            <a:endParaRPr lang="en-IN" dirty="0"/>
          </a:p>
          <a:p>
            <a:r>
              <a:rPr lang="en-IN" b="1" dirty="0"/>
              <a:t>Guide:</a:t>
            </a:r>
          </a:p>
          <a:p>
            <a:r>
              <a:rPr lang="en-IN" dirty="0"/>
              <a:t>Mr. L. Gunakar Rao</a:t>
            </a:r>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2.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{E9FC67F8-A6D4-4C4B-8FB0-BDEC21273603}TF1ed9553b-00c4-4092-846a-c8f7f2908f3beecd942f_win32-8e33096c3cfc</Template>
  <TotalTime>630</TotalTime>
  <Words>555</Words>
  <Application>Microsoft Office PowerPoint</Application>
  <PresentationFormat>Widescreen</PresentationFormat>
  <Paragraphs>105</Paragraphs>
  <Slides>12</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Calibri</vt:lpstr>
      <vt:lpstr>Courier New</vt:lpstr>
      <vt:lpstr>Gill Sans Nova Light</vt:lpstr>
      <vt:lpstr>Optima</vt:lpstr>
      <vt:lpstr>Sagona Book</vt:lpstr>
      <vt:lpstr>Wingdings</vt:lpstr>
      <vt:lpstr>Custom</vt:lpstr>
      <vt:lpstr>MACHINE LEARNING BASED DIABETES CLASSIFICATION AND PREDICTION</vt:lpstr>
      <vt:lpstr>Agenda</vt:lpstr>
      <vt:lpstr>Project Definition &amp; Objectives</vt:lpstr>
      <vt:lpstr>Introduction</vt:lpstr>
      <vt:lpstr>Literature Review</vt:lpstr>
      <vt:lpstr>Progress on Implementation</vt:lpstr>
      <vt:lpstr>Methodology &amp; Proposed Approach</vt:lpstr>
      <vt:lpstr>System Architecture</vt:lpstr>
      <vt:lpstr>Results / Outputs</vt:lpstr>
      <vt:lpstr>Output:</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akhila m</dc:creator>
  <cp:lastModifiedBy>akhila m</cp:lastModifiedBy>
  <cp:revision>1</cp:revision>
  <dcterms:created xsi:type="dcterms:W3CDTF">2026-03-20T07:31:15Z</dcterms:created>
  <dcterms:modified xsi:type="dcterms:W3CDTF">2026-03-20T18:01:26Z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